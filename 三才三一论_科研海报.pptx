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64008" cy="1371600"/>
          </a:xfrm>
          <a:prstGeom prst="rect">
            <a:avLst/>
          </a:prstGeom>
          <a:solidFill>
            <a:srgbClr val="B23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27687" y="5340096"/>
            <a:ext cx="64008" cy="1371600"/>
          </a:xfrm>
          <a:prstGeom prst="rect">
            <a:avLst/>
          </a:prstGeom>
          <a:solidFill>
            <a:srgbClr val="B23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4A5568"/>
                </a:solidFill>
                <a:latin typeface="Microsoft YaHei"/>
                <a:ea typeface="Microsoft YaHei"/>
              </a:rPr>
              <a:t>比较形而上学 · COMPARATIVE METAPHYSICS</a:t>
            </a:r>
            <a:r>
              <a:rPr sz="1000" b="0" i="0">
                <a:solidFill>
                  <a:srgbClr val="4A5568"/>
                </a:solidFill>
                <a:latin typeface="Microsoft YaHei"/>
                <a:ea typeface="Microsoft YaHei"/>
              </a:rPr>
              <a:t>    |    创研计划第五期 · 月满灵感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1A202C"/>
                </a:solidFill>
                <a:latin typeface="STSong"/>
                <a:ea typeface="STSong"/>
              </a:rPr>
              <a:t>墙，而非桥</a:t>
            </a:r>
            <a:r>
              <a:rPr sz="4000" b="0" i="0">
                <a:solidFill>
                  <a:srgbClr val="1A202C"/>
                </a:solidFill>
                <a:latin typeface="STSong"/>
                <a:ea typeface="STSong"/>
              </a:rPr>
              <a:t>  </a:t>
            </a:r>
            <a:r>
              <a:rPr sz="2100" b="0" i="0">
                <a:solidFill>
                  <a:srgbClr val="2D3648"/>
                </a:solidFill>
                <a:latin typeface="STSong"/>
                <a:ea typeface="STSong"/>
              </a:rPr>
              <a:t>——斯宾诺莎的基督化约如何证伪「三才=三位一体」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1">
                <a:solidFill>
                  <a:srgbClr val="4A5568"/>
                </a:solidFill>
                <a:latin typeface="Georgia"/>
                <a:ea typeface="Microsoft YaHei"/>
              </a:rPr>
              <a:t>The Wall, Not the Bridge: Spinoza's Christological Reduction as a Diagnostic Foil for the </a:t>
            </a:r>
            <a:r>
              <a:rPr sz="1250" b="0" i="1">
                <a:solidFill>
                  <a:srgbClr val="4A5568"/>
                </a:solidFill>
                <a:latin typeface="Georgia"/>
                <a:ea typeface="Microsoft YaHei"/>
              </a:rPr>
              <a:t>Sancai</a:t>
            </a:r>
            <a:r>
              <a:rPr sz="1250" b="0" i="1">
                <a:solidFill>
                  <a:srgbClr val="4A5568"/>
                </a:solidFill>
                <a:latin typeface="Georgia"/>
                <a:ea typeface="Microsoft YaHei"/>
              </a:rPr>
              <a:t>–Trinity Comparison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00784"/>
            <a:ext cx="1920240" cy="38100"/>
          </a:xfrm>
          <a:prstGeom prst="rect">
            <a:avLst/>
          </a:prstGeom>
          <a:solidFill>
            <a:srgbClr val="B23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59736" y="1705356"/>
            <a:ext cx="9229039" cy="11430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10512"/>
            <a:ext cx="35701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B23A2D"/>
                </a:solidFill>
                <a:latin typeface="Georgia"/>
                <a:ea typeface="Microsoft YaHei"/>
              </a:rPr>
              <a:t>壹</a:t>
            </a:r>
            <a:r>
              <a:rPr sz="1500" b="1" i="0">
                <a:solidFill>
                  <a:srgbClr val="1A202C"/>
                </a:solidFill>
                <a:latin typeface="STSong"/>
                <a:ea typeface="STSong"/>
              </a:rPr>
              <a:t>  问题：两个「三」</a:t>
            </a:r>
            <a:r>
              <a:rPr sz="950" b="0" i="1">
                <a:solidFill>
                  <a:srgbClr val="4A5568"/>
                </a:solidFill>
                <a:latin typeface="Georgia"/>
                <a:ea typeface="Microsoft YaHei"/>
              </a:rPr>
              <a:t>  THE PROBLEM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21408"/>
            <a:ext cx="357012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249424"/>
            <a:ext cx="327751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 i="0">
                <a:solidFill>
                  <a:srgbClr val="1A202C"/>
                </a:solidFill>
                <a:latin typeface="Microsoft YaHei"/>
                <a:ea typeface="Microsoft YaHei"/>
              </a:rPr>
              <a:t>《周易·说卦》立天、地、人「三才」；《中庸》22章言人「与天地参」。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 i="0">
                <a:solidFill>
                  <a:srgbClr val="1A202C"/>
                </a:solidFill>
                <a:latin typeface="Microsoft YaHei"/>
                <a:ea typeface="Microsoft YaHei"/>
              </a:rPr>
              <a:t>比较哲学常因「都是三」而将三才与 Trinity 并置。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1" i="0">
                <a:solidFill>
                  <a:srgbClr val="B23A2D"/>
                </a:solidFill>
                <a:latin typeface="Microsoft YaHei"/>
                <a:ea typeface="Microsoft YaHei"/>
              </a:rPr>
              <a:t>但数字相似 ≠ 结构相似。</a:t>
            </a:r>
            <a:r>
              <a:rPr sz="1050" b="0" i="0">
                <a:solidFill>
                  <a:srgbClr val="1A202C"/>
                </a:solidFill>
                <a:latin typeface="Microsoft YaHei"/>
                <a:ea typeface="Microsoft YaHei"/>
              </a:rPr>
              <a:t>合法的比较需要判准。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12463"/>
            <a:ext cx="35701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A202C"/>
                </a:solidFill>
                <a:latin typeface="Microsoft YaHei"/>
                <a:ea typeface="Microsoft YaHei"/>
              </a:rPr>
              <a:t>斯宾诺莎的化约机制  Ep. 73 (1675)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68496"/>
            <a:ext cx="3570122" cy="10972"/>
          </a:xfrm>
          <a:prstGeom prst="rect">
            <a:avLst/>
          </a:prstGeom>
          <a:solidFill>
            <a:srgbClr val="E9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41648"/>
            <a:ext cx="357012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1">
                <a:solidFill>
                  <a:srgbClr val="4A5568"/>
                </a:solidFill>
                <a:latin typeface="Georgia"/>
                <a:ea typeface="Microsoft YaHei"/>
              </a:rPr>
              <a:t>secundum carnem</a:t>
            </a:r>
            <a:r>
              <a:rPr sz="1000" b="0" i="0">
                <a:solidFill>
                  <a:srgbClr val="1A202C"/>
                </a:solidFill>
                <a:latin typeface="Microsoft YaHei"/>
                <a:ea typeface="Microsoft YaHei"/>
              </a:rPr>
              <a:t>  有限样式，被钉死，未复活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1">
                <a:solidFill>
                  <a:srgbClr val="4A5568"/>
                </a:solidFill>
                <a:latin typeface="Georgia"/>
                <a:ea typeface="Microsoft YaHei"/>
              </a:rPr>
              <a:t>secundum spiritum</a:t>
            </a:r>
            <a:r>
              <a:rPr sz="1000" b="0" i="0">
                <a:solidFill>
                  <a:srgbClr val="1A202C"/>
                </a:solidFill>
                <a:latin typeface="Microsoft YaHei"/>
                <a:ea typeface="Microsoft YaHei"/>
              </a:rPr>
              <a:t>  = 神之永恒智慧 / 无限理智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28032"/>
            <a:ext cx="45720" cy="969264"/>
          </a:xfrm>
          <a:prstGeom prst="rect">
            <a:avLst/>
          </a:prstGeom>
          <a:solidFill>
            <a:srgbClr val="B23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846320"/>
            <a:ext cx="329580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A202C"/>
                </a:solidFill>
                <a:latin typeface="KaiTi"/>
                <a:ea typeface="KaiTi"/>
              </a:rPr>
              <a:t>「神取人性」=「圆取方性」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4A5568"/>
                </a:solidFill>
                <a:latin typeface="Microsoft YaHei"/>
                <a:ea typeface="Microsoft YaHei"/>
              </a:rPr>
              <a:t>——化约的实质：把「位格」溶解为「样式」。其前提是：没有任何有限者能与实体对等。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0786" y="1810512"/>
            <a:ext cx="35701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B23A2D"/>
                </a:solidFill>
                <a:latin typeface="Georgia"/>
                <a:ea typeface="Microsoft YaHei"/>
              </a:rPr>
              <a:t>贰</a:t>
            </a:r>
            <a:r>
              <a:rPr sz="1500" b="1" i="0">
                <a:solidFill>
                  <a:srgbClr val="1A202C"/>
                </a:solidFill>
                <a:latin typeface="STSong"/>
                <a:ea typeface="STSong"/>
              </a:rPr>
              <a:t>  论证：化约在三才上失效</a:t>
            </a:r>
            <a:r>
              <a:rPr sz="950" b="0" i="1">
                <a:solidFill>
                  <a:srgbClr val="4A5568"/>
                </a:solidFill>
                <a:latin typeface="Georgia"/>
                <a:ea typeface="Microsoft YaHei"/>
              </a:rPr>
              <a:t>  THE ARGUMENT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0786" y="2121408"/>
            <a:ext cx="3570122" cy="1956816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q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818" y="2304288"/>
            <a:ext cx="566928" cy="35661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43474" y="228600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EFE4"/>
                </a:solidFill>
                <a:latin typeface="STSong"/>
                <a:ea typeface="STSong"/>
              </a:rPr>
              <a:t>天</a:t>
            </a:r>
            <a:r>
              <a:rPr sz="950" b="0" i="0">
                <a:solidFill>
                  <a:srgbClr val="E9E2D2"/>
                </a:solidFill>
                <a:latin typeface="Microsoft YaHei"/>
                <a:ea typeface="Microsoft YaHei"/>
              </a:rPr>
              <a:t>  乾 · 创生</a:t>
            </a:r>
          </a:p>
        </p:txBody>
      </p:sp>
      <p:pic>
        <p:nvPicPr>
          <p:cNvPr id="24" name="Picture 23" descr="k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818" y="2779776"/>
            <a:ext cx="566928" cy="35661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43474" y="276148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EFE4"/>
                </a:solidFill>
                <a:latin typeface="STSong"/>
                <a:ea typeface="STSong"/>
              </a:rPr>
              <a:t>地</a:t>
            </a:r>
            <a:r>
              <a:rPr sz="950" b="0" i="0">
                <a:solidFill>
                  <a:srgbClr val="E9E2D2"/>
                </a:solidFill>
                <a:latin typeface="Microsoft YaHei"/>
                <a:ea typeface="Microsoft YaHei"/>
              </a:rPr>
              <a:t>  坤 · 承载</a:t>
            </a:r>
          </a:p>
        </p:txBody>
      </p:sp>
      <p:pic>
        <p:nvPicPr>
          <p:cNvPr id="26" name="Picture 25" descr="l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818" y="3255264"/>
            <a:ext cx="566928" cy="35661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243474" y="3236976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EFE4"/>
                </a:solidFill>
                <a:latin typeface="STSong"/>
                <a:ea typeface="STSong"/>
              </a:rPr>
              <a:t>人</a:t>
            </a:r>
            <a:r>
              <a:rPr sz="950" b="1" i="0">
                <a:solidFill>
                  <a:srgbClr val="B88A3A"/>
                </a:solidFill>
                <a:latin typeface="Microsoft YaHei"/>
                <a:ea typeface="Microsoft YaHei"/>
              </a:rPr>
              <a:t>  参 · 赞化育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5305" y="2286000"/>
            <a:ext cx="151272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F4EFE4"/>
                </a:solidFill>
                <a:latin typeface="KaiTi"/>
                <a:ea typeface="KaiTi"/>
              </a:rPr>
              <a:t>「可以赞天地之化育，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F4EFE4"/>
                </a:solidFill>
                <a:latin typeface="KaiTi"/>
                <a:ea typeface="KaiTi"/>
              </a:rPr>
              <a:t>则可以与天地参矣」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50" b="0" i="0">
                <a:solidFill>
                  <a:srgbClr val="E9E2D2"/>
                </a:solidFill>
                <a:latin typeface="Microsoft YaHei"/>
                <a:ea typeface="Microsoft YaHei"/>
              </a:rPr>
              <a:t>——《中庸》22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1" i="0">
                <a:solidFill>
                  <a:srgbClr val="F4EFE4"/>
                </a:solidFill>
                <a:latin typeface="Microsoft YaHei"/>
                <a:ea typeface="Microsoft YaHei"/>
              </a:rPr>
              <a:t>人是与天地对等的参赞者，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1" i="0">
                <a:solidFill>
                  <a:srgbClr val="F4EFE4"/>
                </a:solidFill>
                <a:latin typeface="Microsoft YaHei"/>
                <a:ea typeface="Microsoft YaHei"/>
              </a:rPr>
              <a:t>不是「一」的分殊。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0786" y="4206240"/>
            <a:ext cx="357012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B23A2D"/>
                </a:solidFill>
                <a:latin typeface="Microsoft YaHei"/>
                <a:ea typeface="Microsoft YaHei"/>
              </a:rPr>
              <a:t>「参」是结构位置，不是样式。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A202C"/>
                </a:solidFill>
                <a:latin typeface="Microsoft YaHei"/>
                <a:ea typeface="Microsoft YaHei"/>
              </a:rPr>
              <a:t>化约逻辑一施用，即抹掉「参」——证伪「三才 = 实体分殊」。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10786" y="5084064"/>
            <a:ext cx="3570122" cy="713232"/>
          </a:xfrm>
          <a:prstGeom prst="rect">
            <a:avLst/>
          </a:prstGeom>
          <a:solidFill>
            <a:srgbClr val="E9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47946" y="5148072"/>
            <a:ext cx="329580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 i="0">
                <a:solidFill>
                  <a:srgbClr val="B23A2D"/>
                </a:solidFill>
                <a:latin typeface="Microsoft YaHei"/>
                <a:ea typeface="Microsoft YaHei"/>
              </a:rPr>
              <a:t>判定：</a:t>
            </a:r>
            <a:r>
              <a:rPr sz="1050" b="1" i="0">
                <a:solidFill>
                  <a:srgbClr val="1A202C"/>
                </a:solidFill>
                <a:latin typeface="Microsoft YaHei"/>
                <a:ea typeface="Microsoft YaHei"/>
              </a:rPr>
              <a:t>斯宾诺莎不是桥梁，而是墙——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 i="0">
                <a:solidFill>
                  <a:srgbClr val="1A202C"/>
                </a:solidFill>
                <a:latin typeface="Microsoft YaHei"/>
                <a:ea typeface="Microsoft YaHei"/>
              </a:rPr>
              <a:t>但墙是最精确的诊断工具（Gegenfolie）。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8652" y="1810512"/>
            <a:ext cx="35701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B23A2D"/>
                </a:solidFill>
                <a:latin typeface="Georgia"/>
                <a:ea typeface="Microsoft YaHei"/>
              </a:rPr>
              <a:t>叁</a:t>
            </a:r>
            <a:r>
              <a:rPr sz="1500" b="1" i="0">
                <a:solidFill>
                  <a:srgbClr val="1A202C"/>
                </a:solidFill>
                <a:latin typeface="STSong"/>
                <a:ea typeface="STSong"/>
              </a:rPr>
              <a:t>  结论：差异在关系性</a:t>
            </a:r>
            <a:r>
              <a:rPr sz="950" b="0" i="1">
                <a:solidFill>
                  <a:srgbClr val="4A5568"/>
                </a:solidFill>
                <a:latin typeface="Georgia"/>
                <a:ea typeface="Microsoft YaHei"/>
              </a:rPr>
              <a:t>  THE PAYOFF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8652" y="2121408"/>
            <a:ext cx="35701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4A5568"/>
                </a:solidFill>
                <a:latin typeface="Microsoft YaHei"/>
                <a:ea typeface="Microsoft YaHei"/>
              </a:rPr>
              <a:t>真正的分水岭不是「一与多」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18652" y="2395728"/>
            <a:ext cx="3570122" cy="384048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33636" y="2395728"/>
            <a:ext cx="119527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4EFE4"/>
                </a:solidFill>
                <a:latin typeface="Microsoft YaHei"/>
                <a:ea typeface="Microsoft YaHei"/>
              </a:rPr>
              <a:t>三位一体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38637" y="2395728"/>
            <a:ext cx="119527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F4EFE4"/>
                </a:solidFill>
                <a:latin typeface="Microsoft YaHei"/>
                <a:ea typeface="Microsoft YaHei"/>
              </a:rPr>
              <a:t>三才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8652" y="2779776"/>
            <a:ext cx="357012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9E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91804" y="2779776"/>
            <a:ext cx="8503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A202C"/>
                </a:solidFill>
                <a:latin typeface="Microsoft YaHei"/>
                <a:ea typeface="Microsoft YaHei"/>
              </a:rPr>
              <a:t>结构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3636" y="2779776"/>
            <a:ext cx="119527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1A202C"/>
                </a:solidFill>
                <a:latin typeface="Microsoft YaHei"/>
                <a:ea typeface="Microsoft YaHei"/>
              </a:rPr>
              <a:t>位格间互渗
perichoresis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38637" y="2779776"/>
            <a:ext cx="119527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B23A2D"/>
                </a:solidFill>
                <a:latin typeface="Microsoft YaHei"/>
                <a:ea typeface="Microsoft YaHei"/>
              </a:rPr>
              <a:t>维度间感通
gan tong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18652" y="3163824"/>
            <a:ext cx="3570122" cy="384048"/>
          </a:xfrm>
          <a:prstGeom prst="rect">
            <a:avLst/>
          </a:prstGeom>
          <a:solidFill>
            <a:srgbClr val="FAF7F0"/>
          </a:solidFill>
          <a:ln w="9525">
            <a:solidFill>
              <a:srgbClr val="E9E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91804" y="3163824"/>
            <a:ext cx="8503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A202C"/>
                </a:solidFill>
                <a:latin typeface="Microsoft YaHei"/>
                <a:ea typeface="Microsoft YaHei"/>
              </a:rPr>
              <a:t>关系性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3636" y="3163824"/>
            <a:ext cx="119527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1A202C"/>
                </a:solidFill>
                <a:latin typeface="Microsoft YaHei"/>
                <a:ea typeface="Microsoft YaHei"/>
              </a:rPr>
              <a:t>位格性的
相互内住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8637" y="3163824"/>
            <a:ext cx="119527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1A202C"/>
                </a:solidFill>
                <a:latin typeface="Microsoft YaHei"/>
                <a:ea typeface="Microsoft YaHei"/>
              </a:rPr>
              <a:t>同一连续体
的极点共振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18652" y="3547872"/>
            <a:ext cx="357012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9E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91804" y="3547872"/>
            <a:ext cx="8503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A202C"/>
                </a:solidFill>
                <a:latin typeface="Microsoft YaHei"/>
                <a:ea typeface="Microsoft YaHei"/>
              </a:rPr>
              <a:t>中介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33636" y="3547872"/>
            <a:ext cx="119527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1A202C"/>
                </a:solidFill>
                <a:latin typeface="Microsoft YaHei"/>
                <a:ea typeface="Microsoft YaHei"/>
              </a:rPr>
              <a:t>爱（圣灵）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38637" y="3547872"/>
            <a:ext cx="119527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1A202C"/>
                </a:solidFill>
                <a:latin typeface="Microsoft YaHei"/>
                <a:ea typeface="Microsoft YaHei"/>
              </a:rPr>
              <a:t>参（人参赞）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8652" y="4059936"/>
            <a:ext cx="357012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1A202C"/>
                </a:solidFill>
                <a:latin typeface="Microsoft YaHei"/>
                <a:ea typeface="Microsoft YaHei"/>
              </a:rPr>
              <a:t>比较若抹去「位格 vs. 感通」之别，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1" i="0">
                <a:solidFill>
                  <a:srgbClr val="B23A2D"/>
                </a:solidFill>
                <a:latin typeface="Microsoft YaHei"/>
                <a:ea typeface="Microsoft YaHei"/>
              </a:rPr>
              <a:t>便只余一个空洞的数词「三」。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18652" y="4663440"/>
            <a:ext cx="3570122" cy="10972"/>
          </a:xfrm>
          <a:prstGeom prst="rect">
            <a:avLst/>
          </a:prstGeom>
          <a:solidFill>
            <a:srgbClr val="E9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18652" y="4736592"/>
            <a:ext cx="357012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1A202C"/>
                </a:solidFill>
                <a:latin typeface="Microsoft YaHei"/>
                <a:ea typeface="Microsoft YaHei"/>
              </a:rPr>
              <a:t>时效：</a:t>
            </a:r>
            <a:r>
              <a:rPr sz="1000" b="0" i="0">
                <a:solidFill>
                  <a:srgbClr val="1A202C"/>
                </a:solidFill>
                <a:latin typeface="Microsoft YaHei"/>
                <a:ea typeface="Microsoft YaHei"/>
              </a:rPr>
              <a:t>Nadler《Spinoza, Atheist》(Princeton, 2026)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4A5568"/>
                </a:solidFill>
                <a:latin typeface="Microsoft YaHei"/>
                <a:ea typeface="Microsoft YaHei"/>
              </a:rPr>
              <a:t>重开「斯宾诺莎体系是否仍有神性维度」之争——若无，化约即彻底祛魅，墙更厚。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1A202C"/>
                </a:solidFill>
                <a:latin typeface="Microsoft YaHei"/>
                <a:ea typeface="Microsoft YaHei"/>
              </a:rPr>
              <a:t>下一步：以库萨 coincidentia oppositorum 为桥（学界空白）。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6254496"/>
            <a:ext cx="11185855" cy="11430"/>
          </a:xfrm>
          <a:prstGeom prst="rect">
            <a:avLst/>
          </a:prstGeom>
          <a:solidFill>
            <a:srgbClr val="E9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630936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4A5568"/>
                </a:solidFill>
                <a:latin typeface="Microsoft YaHei"/>
                <a:ea typeface="Microsoft YaHei"/>
              </a:rPr>
              <a:t>选文：Spinoza, Ep. 73 &amp; 76; TTP ch.4 ｜ 《周易·系辞下/说卦》 ｜ 《中庸》22 ｜ Nadler 2026 ｜ Laux 2022 ｜ Melamed 2013 ｜ Kilby 2000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62695" y="63093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4A5568"/>
                </a:solidFill>
                <a:latin typeface="Microsoft YaHei"/>
                <a:ea typeface="Microsoft YaHei"/>
              </a:rPr>
              <a:t>NASS 2027 Colloquium 投稿摘要（384/500 词）</a:t>
            </a:r>
            <a:r>
              <a:rPr sz="800" b="0" i="0">
                <a:solidFill>
                  <a:srgbClr val="4A5568"/>
                </a:solidFill>
                <a:latin typeface="Microsoft YaHei"/>
                <a:ea typeface="Microsoft YaHei"/>
              </a:rPr>
              <a:t>  ·  慕尼黑大学哲学系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